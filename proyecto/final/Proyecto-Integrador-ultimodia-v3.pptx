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6" r:id="rId1"/>
  </p:sldMasterIdLst>
  <p:notesMasterIdLst>
    <p:notesMasterId r:id="rId11"/>
  </p:notesMasterIdLst>
  <p:sldIdLst>
    <p:sldId id="256" r:id="rId2"/>
    <p:sldId id="268" r:id="rId3"/>
    <p:sldId id="257" r:id="rId4"/>
    <p:sldId id="258" r:id="rId5"/>
    <p:sldId id="259" r:id="rId6"/>
    <p:sldId id="266" r:id="rId7"/>
    <p:sldId id="269" r:id="rId8"/>
    <p:sldId id="265" r:id="rId9"/>
    <p:sldId id="264" r:id="rId10"/>
  </p:sldIdLst>
  <p:sldSz cx="14630400" cy="8229600"/>
  <p:notesSz cx="8229600" cy="14630400"/>
  <p:embeddedFontLst>
    <p:embeddedFont>
      <p:font typeface="Instrument Sans Medium" panose="020B0604020202020204" charset="0"/>
      <p:regular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Instrument Sans Semi Bold" panose="020B0604020202020204" charset="0"/>
      <p:regular r:id="rId15"/>
    </p:embeddedFont>
    <p:embeddedFont>
      <p:font typeface="Humnst777 BT" panose="020B0603030504020204" pitchFamily="34" charset="0"/>
      <p:regular r:id="rId16"/>
    </p:embeddedFont>
    <p:embeddedFont>
      <p:font typeface="Humnst777 BlkCn BT" panose="020B0803030504020204" pitchFamily="3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umnst777 Blk BT" panose="020B0803030504030204" pitchFamily="34" charset="0"/>
      <p:regular r:id="rId22"/>
    </p:embeddedFont>
  </p:embeddedFontLst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20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26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1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55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 smtClean="0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335029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685473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354386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317442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280795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335324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1400454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080317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0901924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636482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306791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887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525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220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515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41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397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408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77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39903-4F33-434B-8F1E-005AA6DF8063}" type="datetimeFigureOut">
              <a:rPr lang="es-UY" smtClean="0"/>
              <a:t>18/12/2024</a:t>
            </a:fld>
            <a:endParaRPr lang="es-U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83951-D783-4151-A7F5-62DE9BD828B0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8484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5" r:id="rId17"/>
    <p:sldLayoutId id="2147483756" r:id="rId18"/>
    <p:sldLayoutId id="2147483757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3666" y="647907"/>
            <a:ext cx="7315200" cy="216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48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Proyecto Integrador: Estructuras Dinámicas</a:t>
            </a:r>
            <a:endParaRPr lang="en-US" sz="4800" dirty="0">
              <a:latin typeface="Humnst777 Blk BT" panose="020B08030305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53665" y="3247362"/>
            <a:ext cx="7052752" cy="213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Este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proyecto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explora</a:t>
            </a:r>
            <a:r>
              <a:rPr lang="en-US" sz="175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la creación de estructuras arquitectónicas dinámicas que combinan movimiento, funcionalidad, estética y sostenibilidad. Se busca proponer alternativas innovadoras que respondan a las necesidades del entorno y de los usuarios.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691312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43094" y="6896219"/>
            <a:ext cx="245030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endParaRPr lang="en-US" sz="2200" dirty="0">
              <a:latin typeface="Humnst777 BT" panose="020B0603030504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71" y="0"/>
            <a:ext cx="5486876" cy="8230313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153665" y="6452093"/>
            <a:ext cx="7315200" cy="12849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100"/>
              </a:lnSpc>
            </a:pPr>
            <a:r>
              <a:rPr lang="en-U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 </a:t>
            </a:r>
            <a:r>
              <a:rPr lang="es-E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Especialización en Fabricación Digital e Innovación</a:t>
            </a:r>
          </a:p>
          <a:p>
            <a:pPr>
              <a:lnSpc>
                <a:spcPts val="3100"/>
              </a:lnSpc>
            </a:pPr>
            <a:r>
              <a:rPr lang="es-E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 UTEC – FABLAB Barcelona</a:t>
            </a:r>
          </a:p>
          <a:p>
            <a:pPr>
              <a:lnSpc>
                <a:spcPts val="3100"/>
              </a:lnSpc>
            </a:pPr>
            <a:r>
              <a:rPr lang="en-U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 </a:t>
            </a:r>
            <a:r>
              <a:rPr lang="en-US" b="1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Nicolás</a:t>
            </a:r>
            <a:r>
              <a:rPr lang="en-U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 </a:t>
            </a:r>
            <a:r>
              <a:rPr lang="en-US" b="1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Reggi</a:t>
            </a:r>
            <a:r>
              <a:rPr lang="en-US" b="1" dirty="0">
                <a:solidFill>
                  <a:srgbClr val="5B5F71"/>
                </a:solidFill>
                <a:latin typeface="Humnst777 BT" panose="020B0603030504020204" pitchFamily="34" charset="0"/>
                <a:ea typeface="Instrument Sans Bold" pitchFamily="34" charset="-122"/>
                <a:cs typeface="Instrument Sans Bold" pitchFamily="34" charset="-120"/>
              </a:rPr>
              <a:t> - 2024</a:t>
            </a:r>
            <a:endParaRPr lang="en-US" dirty="0">
              <a:latin typeface="Humnst777 BT" panose="020B0603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059" y="521851"/>
            <a:ext cx="5850255" cy="59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50"/>
              </a:lnSpc>
              <a:buNone/>
            </a:pPr>
            <a:r>
              <a:rPr lang="en-US" sz="3700" dirty="0" smtClean="0">
                <a:solidFill>
                  <a:srgbClr val="505468"/>
                </a:solidFill>
                <a:latin typeface="Humnst777 Blk BT" panose="020B0803030504030204" pitchFamily="34" charset="0"/>
              </a:rPr>
              <a:t>El </a:t>
            </a:r>
            <a:r>
              <a:rPr lang="en-US" sz="3700" dirty="0" err="1" smtClean="0">
                <a:solidFill>
                  <a:srgbClr val="505468"/>
                </a:solidFill>
                <a:latin typeface="Humnst777 Blk BT" panose="020B0803030504030204" pitchFamily="34" charset="0"/>
              </a:rPr>
              <a:t>Problema</a:t>
            </a:r>
            <a:endParaRPr lang="en-US" sz="3700" dirty="0">
              <a:latin typeface="Humnst777 Blk BT" panose="020B0803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 flipH="1">
            <a:off x="933570" y="1492688"/>
            <a:ext cx="45719" cy="4328040"/>
          </a:xfrm>
          <a:prstGeom prst="roundRect">
            <a:avLst>
              <a:gd name="adj" fmla="val 348092"/>
            </a:avLst>
          </a:prstGeom>
          <a:solidFill>
            <a:srgbClr val="C8C9CF"/>
          </a:solidFill>
          <a:ln/>
        </p:spPr>
      </p:sp>
      <p:sp>
        <p:nvSpPr>
          <p:cNvPr id="4" name="Shape 2"/>
          <p:cNvSpPr/>
          <p:nvPr/>
        </p:nvSpPr>
        <p:spPr>
          <a:xfrm>
            <a:off x="1137404" y="1907500"/>
            <a:ext cx="663059" cy="22860"/>
          </a:xfrm>
          <a:prstGeom prst="roundRect">
            <a:avLst>
              <a:gd name="adj" fmla="val 348092"/>
            </a:avLst>
          </a:prstGeom>
          <a:solidFill>
            <a:srgbClr val="C8C9CF"/>
          </a:solidFill>
          <a:ln/>
        </p:spPr>
      </p:sp>
      <p:sp>
        <p:nvSpPr>
          <p:cNvPr id="5" name="Shape 3"/>
          <p:cNvSpPr/>
          <p:nvPr/>
        </p:nvSpPr>
        <p:spPr>
          <a:xfrm>
            <a:off x="734020" y="1705808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2135" y="1776770"/>
            <a:ext cx="11001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89177" y="1682115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dirty="0" err="1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Cambio</a:t>
            </a:r>
            <a:r>
              <a:rPr lang="en-US" sz="1850" dirty="0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1850" dirty="0" err="1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Climático</a:t>
            </a:r>
            <a:r>
              <a:rPr lang="en-US" sz="18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y </a:t>
            </a:r>
            <a:r>
              <a:rPr lang="en-US" sz="1850" dirty="0" err="1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Sostenibilidad</a:t>
            </a:r>
            <a:endParaRPr lang="en-US" sz="1850" dirty="0">
              <a:latin typeface="Humnst777 Blk BT" panose="020B08030305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89177" y="2091690"/>
            <a:ext cx="1197816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s-ES" sz="1600" dirty="0"/>
              <a:t>Eventos climáticos extremos exigen diseños adaptativos y </a:t>
            </a:r>
            <a:r>
              <a:rPr lang="es-ES" sz="1600" dirty="0" smtClean="0"/>
              <a:t>sostenibles</a:t>
            </a:r>
            <a:r>
              <a:rPr lang="en-US" sz="145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450" dirty="0">
              <a:latin typeface="Humnst777 BT" panose="020B0603030504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37404" y="3188375"/>
            <a:ext cx="663059" cy="22860"/>
          </a:xfrm>
          <a:prstGeom prst="roundRect">
            <a:avLst>
              <a:gd name="adj" fmla="val 348092"/>
            </a:avLst>
          </a:prstGeom>
          <a:solidFill>
            <a:srgbClr val="C8C9CF"/>
          </a:solidFill>
          <a:ln/>
        </p:spPr>
      </p:sp>
      <p:sp>
        <p:nvSpPr>
          <p:cNvPr id="10" name="Shape 8"/>
          <p:cNvSpPr/>
          <p:nvPr/>
        </p:nvSpPr>
        <p:spPr>
          <a:xfrm>
            <a:off x="734020" y="2986683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7966" y="3057644"/>
            <a:ext cx="15835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89177" y="2962989"/>
            <a:ext cx="2851071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 err="1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Mejorando</a:t>
            </a:r>
            <a:r>
              <a:rPr lang="en-US" sz="1850" dirty="0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el </a:t>
            </a:r>
            <a:r>
              <a:rPr lang="en-US" sz="1850" dirty="0" err="1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Proceso</a:t>
            </a:r>
            <a:endParaRPr lang="en-US" sz="1850" dirty="0">
              <a:latin typeface="Humnst777 Blk BT" panose="020B08030305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89177" y="3372564"/>
            <a:ext cx="1197816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s-UY" sz="1600" dirty="0" smtClean="0"/>
              <a:t>Residuos </a:t>
            </a:r>
            <a:r>
              <a:rPr lang="es-UY" sz="1600" dirty="0"/>
              <a:t>industriales difíciles de reciclar (PVC, acrílico)</a:t>
            </a:r>
            <a:endParaRPr lang="en-US" sz="1450" dirty="0">
              <a:latin typeface="Humnst777 BT" panose="020B0603030504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37404" y="4469249"/>
            <a:ext cx="663059" cy="22860"/>
          </a:xfrm>
          <a:prstGeom prst="roundRect">
            <a:avLst>
              <a:gd name="adj" fmla="val 348092"/>
            </a:avLst>
          </a:prstGeom>
          <a:solidFill>
            <a:srgbClr val="C8C9C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4020" y="4267557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870" y="4338518"/>
            <a:ext cx="16454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89177" y="4243864"/>
            <a:ext cx="2838093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s-ES" sz="18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Residuos Industriales y Materiales No Reciclables</a:t>
            </a:r>
            <a:r>
              <a:rPr lang="en-US" sz="1850" dirty="0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endParaRPr lang="en-US" sz="1850" dirty="0">
              <a:latin typeface="Humnst777 Blk BT" panose="020B08030305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89177" y="4653439"/>
            <a:ext cx="1197816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s-ES" sz="1600" dirty="0"/>
              <a:t>El PVC y acrílico presentan desafíos para su reciclaje y reutilización.</a:t>
            </a:r>
            <a:endParaRPr lang="en-US" sz="1450" dirty="0">
              <a:latin typeface="Humnst777 BT" panose="020B0603030504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7404" y="5750123"/>
            <a:ext cx="663059" cy="22860"/>
          </a:xfrm>
          <a:prstGeom prst="roundRect">
            <a:avLst>
              <a:gd name="adj" fmla="val 348092"/>
            </a:avLst>
          </a:prstGeom>
          <a:solidFill>
            <a:srgbClr val="C8C9C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4020" y="5548432"/>
            <a:ext cx="426244" cy="426244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750" y="5619393"/>
            <a:ext cx="17478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89177" y="5524738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s-ES" sz="18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Accesibilidad y Costos en Innovación</a:t>
            </a:r>
            <a:endParaRPr lang="en-US" sz="1850" dirty="0">
              <a:latin typeface="Humnst777 Blk BT" panose="020B08030305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89177" y="5934313"/>
            <a:ext cx="1197816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s-ES" sz="14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Falta de inversión y percepción de altos costos frenan la implementación.</a:t>
            </a:r>
            <a:endParaRPr lang="en-US" sz="1450" dirty="0">
              <a:latin typeface="Humnst777 BT" panose="020B06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72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90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Idea del Proyecto</a:t>
            </a:r>
            <a:endParaRPr lang="en-US" sz="4400" dirty="0">
              <a:latin typeface="Humnst777 Blk BT" panose="020B0803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707958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942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Movimiento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14624" y="3432810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El proyecto "Estructuras Dinámicas" nace de mi interés por explorar nuevas formas arquitectónicas que integren movimiento, funcionalidad, estética y sostenibilidad.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867" y="2707958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942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Funcionalidad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06301" y="3432810"/>
            <a:ext cx="319599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En un contexto local donde la arquitectura tradicional no siempre aborda soluciones adaptativas, este proyecto busca proponer alternativas innovadoras que respondan a las necesidades del entorno y de los usuarios.</a:t>
            </a:r>
            <a:endParaRPr lang="en-US" sz="1750" dirty="0">
              <a:latin typeface="Humnst777 BT" panose="020B0603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43903"/>
            <a:ext cx="63915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Inspiración del Proyecto</a:t>
            </a:r>
            <a:endParaRPr lang="en-US" sz="4000" dirty="0">
              <a:latin typeface="Humnst777 Blk BT" panose="020B0803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0479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099" y="2133005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20479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Kiefer Technic Showroom (Austria)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30906" y="289274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Fachada adaptable que regula la luz y la temperatura interior mediante paneles dinámicos.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5467" y="20479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5844" y="2133005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22583" y="204799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Torres Al Bahar (Abu Dhabi)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22583" y="289274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Diseño que combina funcionalidad y estética, con una fachada cinética que responde a las condiciones climáticas.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357" y="5274231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0906" y="518922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Edificio Media-TIC (Barcelona)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30906" y="603396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Estructura que emplea materiales avanzados y tecnología para optimizar la eficiencia energética.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85467" y="51892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5962" y="5274231"/>
            <a:ext cx="20931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22583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Studio Drift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422583" y="567963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Instalaciones cinéticas que exploran la interacción entre arte, ciencia y naturaleza.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619" y="374904"/>
            <a:ext cx="5724144" cy="7479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633" y="1163804"/>
            <a:ext cx="66353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Justificación del Enfoque</a:t>
            </a:r>
            <a:endParaRPr lang="en-US" sz="4450" dirty="0">
              <a:latin typeface="Humnst777 Blk BT" panose="020B0803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Adaptabilidad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24686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Las superficies dinámicas ofrecen beneficios significativos en la arquitectura contemporánea, incluyendo la capacidad de adaptarse a estímulos específicos.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Eficiencia Energética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1808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Optimizar recursos energéticos y mejorar la experiencia del usuario.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Sostenibilidad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10252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Este proyecto busca desarrollar soluciones dinámicas que integren movimiento, interactividad y sostenibilidad.</a:t>
            </a:r>
            <a:endParaRPr lang="en-US" sz="1750" dirty="0">
              <a:latin typeface="Humnst777 BT" panose="020B0603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400"/>
              </a:lnSpc>
            </a:pPr>
            <a:r>
              <a:rPr lang="en-US" sz="4300" dirty="0" err="1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Prototipo</a:t>
            </a:r>
            <a:r>
              <a:rPr lang="en-US" sz="43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300" dirty="0" smtClean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1: </a:t>
            </a:r>
            <a:r>
              <a:rPr lang="en-US" sz="4300" dirty="0" smtClean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Superficies </a:t>
            </a:r>
            <a:r>
              <a:rPr lang="en-US" sz="4300" dirty="0" err="1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Inflables</a:t>
            </a:r>
            <a:r>
              <a:rPr lang="en-US" sz="43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300" dirty="0" err="1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Geométricas</a:t>
            </a:r>
            <a:endParaRPr lang="en-US" sz="4300" dirty="0">
              <a:latin typeface="Humnst777 Blk BT" panose="020B080303050403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Estructura</a:t>
            </a:r>
            <a:endParaRPr lang="en-US" sz="2150" dirty="0">
              <a:latin typeface="Humnst777 Blk BT" panose="020B080303050403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95127" y="2885837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Base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octogonal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inflable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de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pvc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flexible y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triangulos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de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acrilico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pegados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que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limitan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los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movimientos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00" dirty="0">
              <a:latin typeface="Humnst777 BT" panose="020B0603030504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3833726" cy="47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 err="1" smtClean="0">
                <a:solidFill>
                  <a:srgbClr val="5B5F71"/>
                </a:solidFill>
                <a:latin typeface="Humnst777 Blk BT" panose="020B0803030504030204" pitchFamily="34" charset="0"/>
              </a:rPr>
              <a:t>Mecanismos</a:t>
            </a:r>
            <a:r>
              <a:rPr lang="en-US" sz="2150" dirty="0" smtClean="0">
                <a:solidFill>
                  <a:srgbClr val="5B5F71"/>
                </a:solidFill>
                <a:latin typeface="Humnst777 Blk BT" panose="020B0803030504030204" pitchFamily="34" charset="0"/>
              </a:rPr>
              <a:t> y </a:t>
            </a:r>
            <a:r>
              <a:rPr lang="en-US" sz="2150" dirty="0" err="1" smtClean="0">
                <a:solidFill>
                  <a:srgbClr val="5B5F71"/>
                </a:solidFill>
                <a:latin typeface="Humnst777 Blk BT" panose="020B0803030504030204" pitchFamily="34" charset="0"/>
              </a:rPr>
              <a:t>electrónica</a:t>
            </a:r>
            <a:endParaRPr lang="en-US" sz="2150" dirty="0">
              <a:latin typeface="Humnst777 Blk BT" panose="020B080303050403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95128" y="4785478"/>
            <a:ext cx="6162199" cy="1157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Sistema de control basado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en una placa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ESP32</a:t>
            </a:r>
          </a:p>
          <a:p>
            <a:pPr>
              <a:lnSpc>
                <a:spcPts val="2750"/>
              </a:lnSpc>
            </a:pP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programada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con </a:t>
            </a:r>
            <a:r>
              <a:rPr lang="es-ES" sz="170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Arduino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, que opera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compresor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de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aire</a:t>
            </a:r>
          </a:p>
          <a:p>
            <a:pPr>
              <a:lnSpc>
                <a:spcPts val="2750"/>
              </a:lnSpc>
            </a:pP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y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una válvula solenoide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00" dirty="0">
              <a:latin typeface="Humnst777 BT" panose="020B0603030504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Fabricación</a:t>
            </a:r>
            <a:endParaRPr lang="en-US" sz="2150" dirty="0">
              <a:latin typeface="Humnst777 Blk BT" panose="020B08030305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Incluye corte láser, impresión 3D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, router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cnc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Placas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y </a:t>
            </a: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ensamblaje mecánico.</a:t>
            </a:r>
            <a:endParaRPr lang="en-US" sz="1700" dirty="0">
              <a:latin typeface="Humnst777 BT" panose="020B0603030504020204" pitchFamily="34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742"/>
            <a:ext cx="553010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3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Prototipo 2: Estructuras Origami Extensibles</a:t>
            </a:r>
            <a:endParaRPr lang="en-US" sz="4300" dirty="0">
              <a:latin typeface="Humnst777 Blk BT" panose="020B080303050403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Estructura</a:t>
            </a:r>
            <a:endParaRPr lang="en-US" sz="2150" dirty="0">
              <a:latin typeface="Humnst777 Blk BT" panose="020B080303050403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5254753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Basada en patrones de origami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fabricados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en  </a:t>
            </a:r>
            <a:r>
              <a:rPr lang="en-US" sz="170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acrilico</a:t>
            </a: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en-US" sz="1700" dirty="0" smtClean="0">
              <a:solidFill>
                <a:srgbClr val="5B5F71"/>
              </a:solidFill>
              <a:latin typeface="Humnst777 BT" panose="020B0603030504020204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ts val="2750"/>
              </a:lnSpc>
            </a:pP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pegados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sobre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lona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de </a:t>
            </a:r>
            <a:r>
              <a:rPr lang="en-US" sz="1700" dirty="0" err="1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pvc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flexible.</a:t>
            </a:r>
            <a:endParaRPr lang="en-US" sz="1700" dirty="0">
              <a:latin typeface="Humnst777 BT" panose="020B0603030504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95128" y="4750773"/>
            <a:ext cx="5254753" cy="1157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Sistema de control basado en una placa ESP32</a:t>
            </a:r>
          </a:p>
          <a:p>
            <a:pPr>
              <a:lnSpc>
                <a:spcPts val="2750"/>
              </a:lnSpc>
            </a:pP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programada con </a:t>
            </a:r>
            <a:r>
              <a:rPr lang="es-ES" sz="170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Arduino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, que opera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movimiento </a:t>
            </a:r>
            <a:endParaRPr lang="es-ES" sz="1700" dirty="0" smtClean="0">
              <a:solidFill>
                <a:srgbClr val="5B5F71"/>
              </a:solidFill>
              <a:latin typeface="Humnst777 BT" panose="020B0603030504020204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>
              <a:lnSpc>
                <a:spcPts val="2750"/>
              </a:lnSpc>
            </a:pP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mediante </a:t>
            </a:r>
            <a:r>
              <a:rPr lang="es-E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un motor DC con reducción de </a:t>
            </a:r>
            <a:r>
              <a:rPr lang="es-E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engranajes</a:t>
            </a:r>
          </a:p>
          <a:p>
            <a:pPr>
              <a:lnSpc>
                <a:spcPts val="2750"/>
              </a:lnSpc>
            </a:pPr>
            <a:endParaRPr lang="es-ES" sz="1700" dirty="0" smtClean="0">
              <a:solidFill>
                <a:srgbClr val="5B5F71"/>
              </a:solidFill>
              <a:latin typeface="Humnst777 BT" panose="020B0603030504020204" pitchFamily="3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Fabricación</a:t>
            </a:r>
            <a:endParaRPr lang="en-US" sz="2150" dirty="0">
              <a:latin typeface="Humnst777 Blk BT" panose="020B08030305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5254753" cy="93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Incluye corte láser, impresión 3D </a:t>
            </a: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router CNC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y </a:t>
            </a:r>
            <a:r>
              <a:rPr lang="en-US" sz="170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ensamblaje mecánico.</a:t>
            </a:r>
            <a:endParaRPr lang="en-US" sz="1700" dirty="0">
              <a:latin typeface="Humnst777 BT" panose="020B06030305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742"/>
            <a:ext cx="5530106" cy="82296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327" y="4206309"/>
            <a:ext cx="3999323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3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09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APLICACIONES</a:t>
            </a:r>
            <a:endParaRPr lang="en-US" sz="4450" dirty="0">
              <a:latin typeface="Humnst777 Blk BT" panose="020B0803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59631" y="46169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6738" y="4701926"/>
            <a:ext cx="11388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69933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rgbClr val="5B5F71"/>
                </a:solidFill>
                <a:latin typeface="Humnst777 Blk BT" panose="020B0803030504030204" pitchFamily="34" charset="0"/>
              </a:rPr>
              <a:t>Estructuras</a:t>
            </a:r>
            <a:r>
              <a:rPr lang="en-US" sz="2200" dirty="0" smtClean="0">
                <a:solidFill>
                  <a:srgbClr val="5B5F71"/>
                </a:solidFill>
                <a:latin typeface="Humnst777 Blk BT" panose="020B0803030504030204" pitchFamily="34" charset="0"/>
              </a:rPr>
              <a:t> </a:t>
            </a:r>
            <a:r>
              <a:rPr lang="en-US" sz="2200" dirty="0" err="1" smtClean="0">
                <a:solidFill>
                  <a:srgbClr val="5B5F71"/>
                </a:solidFill>
                <a:latin typeface="Humnst777 Blk BT" panose="020B0803030504030204" pitchFamily="34" charset="0"/>
              </a:rPr>
              <a:t>inflables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69933" y="5703808"/>
            <a:ext cx="3164662" cy="203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</a:t>
            </a:r>
            <a:r>
              <a:rPr lang="en-US" sz="175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despliegan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para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proteger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áreas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peatonales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durante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lluvias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intensas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controladas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mediante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sensores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que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detectan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cambios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 err="1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climáticos</a:t>
            </a: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..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19396" y="4616916"/>
            <a:ext cx="564550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13871" y="4701926"/>
            <a:ext cx="2096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37189" y="52007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Vehículos</a:t>
            </a:r>
            <a:r>
              <a:rPr lang="en-US" sz="22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:</a:t>
            </a:r>
            <a:endParaRPr lang="en-US" sz="2200" dirty="0">
              <a:latin typeface="Humnst777 Blk BT" panose="020B08030305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83946" y="5686437"/>
            <a:ext cx="4083923" cy="203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s-E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Coberturas inflables para proteger de condiciones climáticas </a:t>
            </a:r>
            <a:r>
              <a:rPr lang="es-ES" sz="175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r>
              <a:rPr lang="es-E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sistemas dinámicos que mejoran la aerodinámica y la eficiencia energética mediante cambios en su envoltura externa.</a:t>
            </a:r>
            <a:r>
              <a:rPr lang="en-US" sz="1750" dirty="0" smtClean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88685" y="461807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45253" y="4703087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>
              <a:latin typeface="Humnst777 Blk BT" panose="020B08030305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31524" y="5128379"/>
            <a:ext cx="3560908" cy="900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pt-BR" sz="2000" dirty="0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Coberturas </a:t>
            </a:r>
            <a:r>
              <a:rPr lang="pt-BR" sz="20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Adaptativas </a:t>
            </a:r>
          </a:p>
          <a:p>
            <a:pPr>
              <a:lnSpc>
                <a:spcPts val="2750"/>
              </a:lnSpc>
            </a:pPr>
            <a:r>
              <a:rPr lang="pt-BR" sz="2000" dirty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para Instrumentos </a:t>
            </a:r>
            <a:endParaRPr lang="pt-BR" sz="2000" dirty="0" smtClean="0">
              <a:solidFill>
                <a:srgbClr val="5B5F71"/>
              </a:solidFill>
              <a:latin typeface="Humnst777 Blk BT" panose="020B0803030504030204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pPr>
              <a:lnSpc>
                <a:spcPts val="2750"/>
              </a:lnSpc>
            </a:pPr>
            <a:r>
              <a:rPr lang="pt-BR" sz="2000" dirty="0" smtClean="0">
                <a:solidFill>
                  <a:srgbClr val="5B5F71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Científicos</a:t>
            </a:r>
            <a:endParaRPr lang="pt-BR" sz="2000" dirty="0">
              <a:solidFill>
                <a:srgbClr val="5B5F71"/>
              </a:solidFill>
              <a:latin typeface="Humnst777 Blk BT" panose="020B0803030504030204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9898987" y="6258002"/>
            <a:ext cx="40968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S</a:t>
            </a:r>
            <a:r>
              <a:rPr lang="es-ES" dirty="0" smtClean="0"/>
              <a:t>istemas </a:t>
            </a:r>
            <a:r>
              <a:rPr lang="es-ES" dirty="0"/>
              <a:t>inflables diseñados para proteger telescopios u otros instrumentos expuestos a la intemperie, asegurando su funcionalidad frente a cambios climáticos, polvo o humedad.</a:t>
            </a:r>
            <a:endParaRPr lang="es-UY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6590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Humnst777 Blk BT" panose="020B0803030504030204" pitchFamily="34" charset="0"/>
                <a:ea typeface="Instrument Sans Semi Bold" pitchFamily="34" charset="-122"/>
                <a:cs typeface="Instrument Sans Semi Bold" pitchFamily="34" charset="-120"/>
              </a:rPr>
              <a:t>Conclusiones</a:t>
            </a:r>
            <a:endParaRPr lang="en-US" sz="4450" dirty="0">
              <a:latin typeface="Humnst777 Blk BT" panose="020B0803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707958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942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Viabilidad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3432810"/>
            <a:ext cx="319599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El proyecto "Estructuras Dinámicas" demuestra la viabilidad de integrar técnicas de fabricación digital, geometría dinámica y sistemas de control para transformar el diseño arquitectónico.</a:t>
            </a:r>
            <a:endParaRPr lang="en-US" sz="1750" dirty="0">
              <a:latin typeface="Humnst777 BT" panose="020B0603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467" y="2707958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942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Humnst777 BlkCn BT" panose="020B0803030504020204" pitchFamily="34" charset="0"/>
                <a:ea typeface="Instrument Sans Semi Bold" pitchFamily="34" charset="-122"/>
                <a:cs typeface="Instrument Sans Semi Bold" pitchFamily="34" charset="-120"/>
              </a:rPr>
              <a:t>Potencial</a:t>
            </a:r>
            <a:endParaRPr lang="en-US" sz="2200" dirty="0">
              <a:latin typeface="Humnst777 BlkCn BT" panose="020B0803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901" y="3432810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Humnst777 BT" panose="020B0603030504020204" pitchFamily="34" charset="0"/>
                <a:ea typeface="Instrument Sans Medium" pitchFamily="34" charset="-122"/>
                <a:cs typeface="Instrument Sans Medium" pitchFamily="34" charset="-120"/>
              </a:rPr>
              <a:t>Los prototipos desarrollados validan el potencial de las superficies dinámicas como elementos arquitectónicos innovadores, interactivas, adaptativas y sostenibles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07" y="-357"/>
            <a:ext cx="5486876" cy="8230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588</Words>
  <Application>Microsoft Office PowerPoint</Application>
  <PresentationFormat>Personalizado</PresentationFormat>
  <Paragraphs>89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Instrument Sans Medium</vt:lpstr>
      <vt:lpstr>Arial</vt:lpstr>
      <vt:lpstr>Instrument Sans Bold</vt:lpstr>
      <vt:lpstr>Calibri Light</vt:lpstr>
      <vt:lpstr>Instrument Sans Semi Bold</vt:lpstr>
      <vt:lpstr>Humnst777 BT</vt:lpstr>
      <vt:lpstr>Humnst777 BlkCn BT</vt:lpstr>
      <vt:lpstr>Calibri</vt:lpstr>
      <vt:lpstr>Humnst777 Blk BT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Cliente</cp:lastModifiedBy>
  <cp:revision>25</cp:revision>
  <dcterms:created xsi:type="dcterms:W3CDTF">2024-12-02T13:16:57Z</dcterms:created>
  <dcterms:modified xsi:type="dcterms:W3CDTF">2024-12-19T02:13:22Z</dcterms:modified>
</cp:coreProperties>
</file>